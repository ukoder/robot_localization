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76D98-D61B-4655-9F07-885518B2E1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44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3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HMM Robot Localization Simulator: Visualizing Uncertainty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976304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Uday</a:t>
                      </a:r>
                      <a:r>
                        <a:rPr lang="en-GB" dirty="0"/>
                        <a:t> Kumar J.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IInd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“F”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Ms S. </a:t>
                      </a:r>
                      <a:r>
                        <a:rPr lang="en-GB" b="1" dirty="0" err="1"/>
                        <a:t>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11/18/2025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/>
          <a:lstStyle/>
          <a:p>
            <a:pPr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Scenario: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 robot on a 2D grid map with obstacles.</a:t>
            </a:r>
          </a:p>
          <a:p>
            <a:pPr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Challenges:</a:t>
            </a:r>
            <a:endParaRPr lang="en-GB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Probabilistic Movement: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Robot's actions are imperfect (e.g., trying to move North might lead to slipping East).</a:t>
            </a:r>
          </a:p>
          <a:p>
            <a:pPr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Noisy Sensors: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Robot's obstacle detectors are unreliable (false positives/negatives).</a:t>
            </a:r>
          </a:p>
          <a:p>
            <a:pPr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Hidden State: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The robot's true location is unknown.</a:t>
            </a:r>
          </a:p>
          <a:p>
            <a:pPr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Goal:</a:t>
            </a:r>
            <a:endParaRPr lang="en-GB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/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Develop a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Pygame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simulator to visualize the HMM's ability to estimate the robot's location.</a:t>
            </a:r>
          </a:p>
          <a:p>
            <a:pPr rtl="0" fontAlgn="base"/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Represent the HMM's estimated location as a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heatmap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belief distribution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592"/>
            <a:ext cx="10515600" cy="5358816"/>
          </a:xfrm>
        </p:spPr>
        <p:txBody>
          <a:bodyPr/>
          <a:lstStyle/>
          <a:p>
            <a:pPr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What is an HMM?</a:t>
            </a:r>
            <a:endParaRPr lang="en-GB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/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statistical model for systems with unobserved (hidden) states and observable outputs.</a:t>
            </a:r>
          </a:p>
          <a:p>
            <a:pPr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Key Components:</a:t>
            </a:r>
            <a:endParaRPr lang="en-GB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States (S):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Each possible grid cell location of the robot.</a:t>
            </a:r>
          </a:p>
          <a:p>
            <a:pPr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Observations (O):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Sensor readings (4-bit binary for N, S, E, W obstacle detection).</a:t>
            </a:r>
          </a:p>
          <a:p>
            <a:pPr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Transition Model (T):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P(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S_t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| S_{t-1}, Action). Probability of moving between states given an action.</a:t>
            </a:r>
          </a:p>
          <a:p>
            <a:pPr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Sensor (Emission) Model (E):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P(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O_t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|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S_t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). Probability of observing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O_t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if the robot is truly in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S_t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Prior Probability (\pi):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Initial belief distribution over states.</a:t>
            </a:r>
          </a:p>
          <a:p>
            <a:pPr rtl="0" fontAlgn="base"/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Filtering Problem: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Continuously compute the current belief Bel(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S_t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= P(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S_t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| O_{1:t}, Action_{1:t}).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601464"/>
              </p:ext>
            </p:extLst>
          </p:nvPr>
        </p:nvGraphicFramePr>
        <p:xfrm>
          <a:off x="1854200" y="2205222"/>
          <a:ext cx="8128000" cy="2016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Github.com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Ukoder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Robot_localization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github.com</a:t>
                      </a:r>
                      <a:r>
                        <a:rPr lang="en-GB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/</a:t>
                      </a:r>
                      <a:r>
                        <a:rPr lang="en-GB" sz="1800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UKoder</a:t>
                      </a:r>
                      <a:r>
                        <a:rPr lang="en-GB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/</a:t>
                      </a:r>
                      <a:r>
                        <a:rPr lang="en-GB" sz="1800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Robot_localization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github.com</a:t>
                      </a:r>
                      <a:r>
                        <a:rPr lang="en-GB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/</a:t>
                      </a:r>
                      <a:r>
                        <a:rPr lang="en-GB" sz="1800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UKoder</a:t>
                      </a:r>
                      <a:r>
                        <a:rPr lang="en-GB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/</a:t>
                      </a:r>
                      <a:r>
                        <a:rPr lang="en-GB" sz="1800" dirty="0" err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Robot_localization-ppt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1744-1841-7314-5231-7CC4C07D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marL="3200400" lvl="7" indent="0">
              <a:buNone/>
            </a:pPr>
            <a:r>
              <a:rPr lang="en-GB" dirty="0"/>
              <a:t>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8" name="image2.png">
            <a:extLst>
              <a:ext uri="{FF2B5EF4-FFF2-40B4-BE49-F238E27FC236}">
                <a16:creationId xmlns:a16="http://schemas.microsoft.com/office/drawing/2014/main" id="{362FD257-F4B1-7EF3-B8F3-72E4DEA49860}"/>
              </a:ext>
            </a:extLst>
          </p:cNvPr>
          <p:cNvPicPr/>
          <p:nvPr/>
        </p:nvPicPr>
        <p:blipFill>
          <a:blip r:embed="rId2"/>
          <a:srcRect l="18910" r="18429" b="5213"/>
          <a:stretch>
            <a:fillRect/>
          </a:stretch>
        </p:blipFill>
        <p:spPr>
          <a:xfrm>
            <a:off x="838200" y="1345348"/>
            <a:ext cx="2880995" cy="2733675"/>
          </a:xfrm>
          <a:prstGeom prst="rect">
            <a:avLst/>
          </a:prstGeom>
          <a:ln/>
        </p:spPr>
      </p:pic>
      <p:pic>
        <p:nvPicPr>
          <p:cNvPr id="11" name="image3.png">
            <a:extLst>
              <a:ext uri="{FF2B5EF4-FFF2-40B4-BE49-F238E27FC236}">
                <a16:creationId xmlns:a16="http://schemas.microsoft.com/office/drawing/2014/main" id="{D9185395-426F-B3BE-2B4B-4C46A96D14DD}"/>
              </a:ext>
            </a:extLst>
          </p:cNvPr>
          <p:cNvPicPr/>
          <p:nvPr/>
        </p:nvPicPr>
        <p:blipFill>
          <a:blip r:embed="rId3"/>
          <a:srcRect l="18682" r="18190" b="4401"/>
          <a:stretch>
            <a:fillRect/>
          </a:stretch>
        </p:blipFill>
        <p:spPr>
          <a:xfrm>
            <a:off x="4319693" y="1345348"/>
            <a:ext cx="2928620" cy="2714625"/>
          </a:xfrm>
          <a:prstGeom prst="rect">
            <a:avLst/>
          </a:prstGeom>
          <a:ln/>
        </p:spPr>
      </p:pic>
      <p:pic>
        <p:nvPicPr>
          <p:cNvPr id="14" name="image1.png">
            <a:extLst>
              <a:ext uri="{FF2B5EF4-FFF2-40B4-BE49-F238E27FC236}">
                <a16:creationId xmlns:a16="http://schemas.microsoft.com/office/drawing/2014/main" id="{0F6FCA72-BE1E-5087-942E-E732C9818DBC}"/>
              </a:ext>
            </a:extLst>
          </p:cNvPr>
          <p:cNvPicPr/>
          <p:nvPr/>
        </p:nvPicPr>
        <p:blipFill>
          <a:blip r:embed="rId4"/>
          <a:srcRect l="18589" r="18429" b="4116"/>
          <a:stretch>
            <a:fillRect/>
          </a:stretch>
        </p:blipFill>
        <p:spPr>
          <a:xfrm>
            <a:off x="7694684" y="1466935"/>
            <a:ext cx="3212745" cy="24905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683"/>
            <a:ext cx="10515600" cy="4909637"/>
          </a:xfrm>
        </p:spPr>
        <p:txBody>
          <a:bodyPr/>
          <a:lstStyle/>
          <a:p>
            <a:pPr marL="0" lvl="0" indent="0">
              <a:buNone/>
            </a:pPr>
            <a:r>
              <a:rPr lang="en-GB" dirty="0"/>
              <a:t>Screenshot 1: The robot begins with a uniform belief over all open cells. The </a:t>
            </a:r>
            <a:r>
              <a:rPr lang="en-GB" dirty="0" err="1"/>
              <a:t>heatmap</a:t>
            </a:r>
            <a:r>
              <a:rPr lang="en-GB" dirty="0"/>
              <a:t> shows equal probability everywhere, as the HMM has no information yet.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Screenshot 2: Description: After an action, the belief spreads to possible next states, reflecting increased uncertainty due to imperfect movement.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Screenshot 3: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noisy sensor observation focuses the belief, concentrating probability mass on locations consistent with the reading, ideally near the true robot.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marL="0" lvl="0" indent="0">
              <a:buNone/>
            </a:pPr>
            <a:r>
              <a:rPr lang="en-GB" dirty="0"/>
              <a:t>1.	Russell, S. J., &amp; </a:t>
            </a:r>
            <a:r>
              <a:rPr lang="en-GB" dirty="0" err="1"/>
              <a:t>Norvig</a:t>
            </a:r>
            <a:r>
              <a:rPr lang="en-GB" dirty="0"/>
              <a:t>, P. (2023). Artificial Intelligence: A Modern Approach (4</a:t>
            </a:r>
            <a:r>
              <a:rPr lang="en-GB" baseline="30000" dirty="0"/>
              <a:t>th</a:t>
            </a:r>
            <a:r>
              <a:rPr lang="en-GB" dirty="0"/>
              <a:t> ed.). Pearson.</a:t>
            </a:r>
          </a:p>
          <a:p>
            <a:pPr marL="0" lvl="0" indent="0">
              <a:buNone/>
            </a:pPr>
            <a:r>
              <a:rPr lang="en-GB" dirty="0"/>
              <a:t>
2.	</a:t>
            </a:r>
            <a:r>
              <a:rPr lang="en-GB" dirty="0" err="1"/>
              <a:t>Thrun</a:t>
            </a:r>
            <a:r>
              <a:rPr lang="en-GB" dirty="0"/>
              <a:t>, S., </a:t>
            </a:r>
            <a:r>
              <a:rPr lang="en-GB" dirty="0" err="1"/>
              <a:t>Burgard</a:t>
            </a:r>
            <a:r>
              <a:rPr lang="en-GB" dirty="0"/>
              <a:t>, W., &amp; Fox, D. (2005). Probabilistic Robotics. The MIT Press.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223</Words>
  <Application>Microsoft Office PowerPoint</Application>
  <PresentationFormat>Widescreen</PresentationFormat>
  <Paragraphs>46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DEPARTMENT OF ARTIFICIAL INTELLIGENCE AND DATA SCIENCE ACADEMIC YEAR 2025 - 2026 SEMESTER III ARTIFICIAL INTELLIGENCE LABORATORY  MINI PROJECT REVIEW                HMM Robot Localization Simulator: Visualizing Uncertainty</vt:lpstr>
      <vt:lpstr>PROBLEM STATEMENT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ARTIFICIAL INTELLIGENCE AND DATA SCIENCE ACADEMIC YEAR 2025 - 2026 SEMESTER III ARTIFICIAL INTELLIGENCE LABORATORY  MINI PROJECT REVIEW   &lt;TITLE OF THE PROJECT&gt;</dc:title>
  <dc:creator>SANKAR GANESH K</dc:creator>
  <cp:lastModifiedBy>Udhay kumar</cp:lastModifiedBy>
  <cp:revision>10</cp:revision>
  <dcterms:created xsi:type="dcterms:W3CDTF">2025-10-18T08:57:34Z</dcterms:created>
  <dcterms:modified xsi:type="dcterms:W3CDTF">2025-11-18T14:14:43Z</dcterms:modified>
</cp:coreProperties>
</file>